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JBIQ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EDE7FF"/>
                </a:solidFill>
                <a:latin typeface="Arial Black"/>
              </a:rPr>
              <a:t>JIOBHARATIQ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VOICE STRATEGY  ·  GA READOUT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Arial Black"/>
              </a:rPr>
              <a:t>India's daily</a:t>
            </a:r>
          </a:p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Arial Black"/>
              </a:rPr>
              <a:t>AI Saathi.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Voice-first. Multilingual. Pre-installed and default-on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across Jio devices. Spanning health, devotion, entertainment,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commerce, jobs — and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2286000" cy="36576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"/>
              </a:rPr>
              <a:t>Matt Jarvis  ·  Post-GA strategy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01  ·  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Breadth and quality —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on a shared substrate.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49240" cy="39319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B4D52"/>
                </a:solidFill>
                <a:latin typeface="Arial Black"/>
              </a:rPr>
              <a:t>PRE-GA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0D10"/>
                </a:solidFill>
                <a:latin typeface="Arial Black"/>
              </a:rPr>
              <a:t>Narrow to win.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764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Four transactional pillars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336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215384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De-emphasise astrology, devotion, entertainment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7258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654296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Compete on Jio's distribution moat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114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93208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Success = users completed a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504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53212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Stop investing where incumbents win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240280"/>
            <a:ext cx="5349240" cy="393192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GA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880360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Daily AI Saathi.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77647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5+ verticals · 15+ signature experiences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423367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215384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Astrology, devotion, entertainment in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467258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654296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Voice-first across 12+ Indian 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1114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093208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Success = Daily Engaged Conversations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5504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553212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Quality bar universal across every domain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02  ·  THE NORTH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Daily Engaged Conversations.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6766560" cy="365760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DEC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DAU  ×  Conversations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rial Black"/>
              </a:rPr>
              <a:t>per user per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4632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EDE7FF"/>
                </a:solidFill>
                <a:latin typeface="Arial"/>
              </a:rPr>
              <a:t>Engagement, not task completion alone. A successful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EDE7FF"/>
                </a:solidFill>
                <a:latin typeface="Arial"/>
              </a:rPr>
              <a:t>JBIQ session is one a user comes back to tomorrow.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24028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240280"/>
            <a:ext cx="91440" cy="109728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51460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078AD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5603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sessions per user per day · year-1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342900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429000"/>
            <a:ext cx="91440" cy="109728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70332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0AD8B"/>
                </a:solidFill>
                <a:latin typeface="Arial Black"/>
              </a:rPr>
              <a:t>25%+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7490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DAU / MAU — habit, not novelty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61772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4617720"/>
            <a:ext cx="91440" cy="128016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892040"/>
            <a:ext cx="3474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310064"/>
                </a:solidFill>
                <a:latin typeface="Arial Black"/>
              </a:rPr>
              <a:t>80%+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1206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response satisfaction · no domain below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03  ·  YEAR-1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What we're underwriting at 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54406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6D17CE"/>
                </a:solidFill>
                <a:latin typeface="Arial Black"/>
              </a:rPr>
              <a:t>100M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4D52"/>
                </a:solidFill>
                <a:latin typeface="Arial"/>
              </a:rPr>
              <a:t>MAU year-1 · 10M+ within 90 days of GA · D30 retention 30%+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40280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2240280"/>
            <a:ext cx="54406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560320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78AD"/>
                </a:solidFill>
                <a:latin typeface="Arial Black"/>
              </a:rPr>
              <a:t>₹1,000Cr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291840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4D52"/>
                </a:solidFill>
                <a:latin typeface="Arial"/>
              </a:rPr>
              <a:t>GMV · ₹100Cr ARR commercial floor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25112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25112"/>
            <a:ext cx="54406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45152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0AD8B"/>
                </a:solidFill>
                <a:latin typeface="Arial Black"/>
              </a:rPr>
              <a:t>40 / 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76672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4D52"/>
                </a:solidFill>
                <a:latin typeface="Arial"/>
              </a:rPr>
              <a:t>% first-session task completion · % returning-user task 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4325112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4325112"/>
            <a:ext cx="5440680" cy="9144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645152"/>
            <a:ext cx="4709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310064"/>
                </a:solidFill>
                <a:latin typeface="Arial Black"/>
              </a:rPr>
              <a:t>12+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5376672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4D52"/>
                </a:solidFill>
                <a:latin typeface="Arial"/>
              </a:rPr>
              <a:t>Indian languages in production · every one meeting the same quality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Trust floors hold throughout — satisfaction, complaint rate, DPDP compliance, low-bandwidth performance — regardless of growth pressure.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04  ·  THE FIVE VERTICALS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Five domains plus a Core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7802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Astrology &amp; Devotion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Grand Kundali Reveal · Talk to Your Planets · Live Darshan · Sacred Calendar. Astrology 30% MAU, Devotion 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103120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82312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47802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Entertainment &amp; News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00400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Cricket Companion · AI Jockey · AI Anchor · Multimodal Fact Checker. 5% of JioHotstar / JioSaavn weekly.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2103120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58784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47802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Jobs, Careers &amp;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200400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Microlearning · English Learning · Interview Prep · Government Exam. 30% MAU, 50% complete a coached session.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15384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5811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90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26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Health &amp; Multimodal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12664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Bills, medicine labels, invoices, IDs — multimodal capture. Diagnostic-first coaching. Low-literacy confirmation UX.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215384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82312" y="45811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590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4626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Commerce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5312664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Recharges, bills, kirana reorders, gas refills. Jio account moat — JioPay, JioPhone, telco data — earns its keep.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4215384"/>
            <a:ext cx="365760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58784" y="458114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4590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4626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Core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5312664"/>
            <a:ext cx="2926080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The substrate — onboarding under 3 min, 6 lifecycle states, day-0 warm start from JioID, zero-English audit.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05  ·  15 SIGNATURE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Each one structurally unreplicable.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134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Grand Kundali 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42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Cinematic voice-first walkthrough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194560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2194560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3134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Talk to Your Planets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642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Conversational astrology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194560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194560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31343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Kundali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642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Compatibility, in 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9067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20954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Shubh Muhurat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Auspicious-time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09067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3090672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20954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Live Darshan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Daily-rhythm devotional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3090672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3090672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320954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Devotional Feed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53872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Shareable WA 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986784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86784"/>
            <a:ext cx="73152" cy="80467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1056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Sacred Calendar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43484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Festival + Vrat awareness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6552" y="3986784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16552" y="3986784"/>
            <a:ext cx="73152" cy="80467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41056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Cricket Match Companion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84" y="443484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Second-screen on JioHotstar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93024" y="3986784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93024" y="3986784"/>
            <a:ext cx="73152" cy="80467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10565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AI Jockey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43484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Persona-driven audio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882896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882896"/>
            <a:ext cx="73152" cy="80467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5001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AI Anchor Daily Brief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3309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Voice news anchor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6552" y="4882896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6552" y="4882896"/>
            <a:ext cx="73152" cy="80467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72584" y="5001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Multimodal Fact Checker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72584" y="53309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8s sourced verdict on WA forwards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4" y="4882896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93024" y="4882896"/>
            <a:ext cx="73152" cy="804672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6" y="5001768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Microlearning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533095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Diagnostic-first coaching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779008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779008"/>
            <a:ext cx="73152" cy="804672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589788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English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622706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AI avatar · pronunciation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16552" y="5779008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416552" y="5779008"/>
            <a:ext cx="73152" cy="804672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72584" y="589788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Interview Prep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72584" y="622706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Mock studios · morning-of kit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93024" y="5779008"/>
            <a:ext cx="3657600" cy="80467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93024" y="5779008"/>
            <a:ext cx="73152" cy="804672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49056" y="5897880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Government Exam Prep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49056" y="6227064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Discovery + study companion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06  ·  VERTICAL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Validated use case to live, in 7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THE PRODUCTION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 Black"/>
              </a:rPr>
              <a:t>Primitives by hand.</a:t>
            </a:r>
          </a:p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Arial Black"/>
              </a:rPr>
              <a:t>Verticals by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709160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Design authors reusable primitives — intent sets, evaluation harnesses, build scaffolding.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93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93208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Agents instantiate verticals against those primitives, evaluated continuously.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4772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477256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Design enters at validation, exits at primitives ship, re-enters at signature-experience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613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861304"/>
            <a:ext cx="4160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2+ net-new signature experiences per month at steady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40280"/>
            <a:ext cx="562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A 7-DAY 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651760"/>
            <a:ext cx="5623560" cy="5943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2651760"/>
            <a:ext cx="91440" cy="59436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76148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Day 1–2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614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Validated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8094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UXR signal, demand evidence, intent set drafted.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364992"/>
            <a:ext cx="5623560" cy="5943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364992"/>
            <a:ext cx="91440" cy="59436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47472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78AD"/>
                </a:solidFill>
                <a:latin typeface="Arial Black"/>
              </a:rPr>
              <a:t>Day 3–4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474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Primitives instantiated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694176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Existing playbook primitives composed; gaps filled.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4078224"/>
            <a:ext cx="5623560" cy="5943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4078224"/>
            <a:ext cx="91440" cy="59436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8795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AD8B"/>
                </a:solidFill>
                <a:latin typeface="Arial Black"/>
              </a:rPr>
              <a:t>Day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1879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Agent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0740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Vertical Lift agent assembles intents, eval, scaffolding.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791456"/>
            <a:ext cx="5623560" cy="5943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4791456"/>
            <a:ext cx="91440" cy="59436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90118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Day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9011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Eval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12064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Quality bar checked; per-language parity verified.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5504688"/>
            <a:ext cx="5623560" cy="5943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9320" y="5504688"/>
            <a:ext cx="91440" cy="59436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61441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10064"/>
                </a:solidFill>
                <a:latin typeface="Arial Black"/>
              </a:rPr>
              <a:t>Day 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61441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C0D10"/>
                </a:solidFill>
                <a:latin typeface="Arial Black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83387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Signature experience ships; lifecycle home picks it up.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07  ·  PARTNER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From advisory to hard-gate.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THE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297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Partners declare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capability. JBIQ</a:t>
            </a:r>
          </a:p>
          <a:p>
            <a:pPr algn="l"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governs interaction.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892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9204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Manifest is the only contract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2578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25780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Canonical primitives only — no custom partner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623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Commitment owned by JBIQ. Partners never run checkout.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989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98932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Cold-start budget · monopoly cap · demotion decay · suppression visibility.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40280"/>
            <a:ext cx="562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PARTNER SCALE AT 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651760"/>
            <a:ext cx="56235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7889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17CE"/>
                </a:solidFill>
                <a:latin typeface="Arial Black"/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898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partners live at GA · Jio + external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547872"/>
            <a:ext cx="56235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68503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17CE"/>
                </a:solidFill>
                <a:latin typeface="Arial Black"/>
              </a:rPr>
              <a:t>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79476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new partners onboarded per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443984"/>
            <a:ext cx="56235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581144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17CE"/>
                </a:solidFill>
                <a:latin typeface="Arial Black"/>
              </a:rPr>
              <a:t>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69087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sandbox-to-first-working-skill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5340096"/>
            <a:ext cx="56235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47725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6D17CE"/>
                </a:solidFill>
                <a:latin typeface="Arial Black"/>
              </a:rPr>
              <a:t>5 min · 1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58698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behaviour visibility · error / violation surfacing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08  ·  TRUST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Trust is a product floor, not a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6974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269748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DPDP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C0D10"/>
                </a:solidFill>
                <a:latin typeface="Arial Black"/>
              </a:rPr>
              <a:t>Full Act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4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Data residency · consent flows · view, edit, delete propagate across surfaces in 24h. Zero resurfacing.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240280"/>
            <a:ext cx="26974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2240280"/>
            <a:ext cx="269748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AD"/>
                </a:solidFill>
                <a:latin typeface="Arial Black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8346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C0D10"/>
                </a:solidFill>
                <a:latin typeface="Arial Black"/>
              </a:rPr>
              <a:t>Fail-closed at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74904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100% legal guardrails live · FNR &lt; 5% per category · hard-block FNR 0% · 99.9% uptime.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240280"/>
            <a:ext cx="26974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2240280"/>
            <a:ext cx="269748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AD8B"/>
                </a:solidFill>
                <a:latin typeface="Arial Black"/>
              </a:rPr>
              <a:t>MEMORY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8346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C0D10"/>
                </a:solidFill>
                <a:latin typeface="Arial Black"/>
              </a:rPr>
              <a:t>User-owned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74904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Every memory viewable, editable, deletable. The DPDP story lives here — not in a settings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2240280"/>
            <a:ext cx="26974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2240280"/>
            <a:ext cx="2697480" cy="9144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251460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0064"/>
                </a:solidFill>
                <a:latin typeface="Arial Black"/>
              </a:rPr>
              <a:t>SOURCING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83464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C0D10"/>
                </a:solidFill>
                <a:latin typeface="Arial Black"/>
              </a:rPr>
              <a:t>Verdicts 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3749040"/>
            <a:ext cx="21488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Fact-checker: 4-tier verdict in 8s with sourced reasoning. No unsourced claims surface in voice or chat.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09  ·  RISKS TO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C0D10"/>
                </a:solidFill>
                <a:latin typeface="Arial Black"/>
              </a:rPr>
              <a:t>Six risks the direction has to 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91440" cy="71323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4942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Velocity vs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26771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7-day Vertical Lift clashes with UXR ≥ 2 weeks pre-ship. First version full UXR; iterations through experimentation.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07792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91440" cy="71323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05409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4495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Breadth vs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72384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15 signature experiences across 5 verticals. Without strong shared primitives, brand erodes. Invest early.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12464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12464"/>
            <a:ext cx="91440" cy="713232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385876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4962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Voice-first vs visual-rich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877056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TTS / barge-in / latency holds and Grand Kundali Reveal cinematic walkthroughs. Same product must do both natively.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17136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17136"/>
            <a:ext cx="91440" cy="713232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6634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67258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65429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Bharat accessibility vs feature richness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81728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90%+ tier-2 / tier-3 usability with zero English — including in English Learning and Fact Checker sourcing.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21808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321808"/>
            <a:ext cx="91440" cy="713232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546811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7725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4589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Trust UI vs frictionless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48640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Memory view / edit / delete, DPDP consent, irreversible-action consent — visible by requirement. Make it feel like a feature.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126480"/>
            <a:ext cx="1097280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6126480"/>
            <a:ext cx="91440" cy="713232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627278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628192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62636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C0D10"/>
                </a:solidFill>
                <a:latin typeface="Arial Black"/>
              </a:rPr>
              <a:t>Day-0 warm start vs creepiness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6291072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70%+ of new users arrive with rich profile. First session must feel known, not watched. Surface inference, never hide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 (GA)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10  ·  WHAT SUCCESS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 Black"/>
              </a:rPr>
              <a:t>GA-quality across the board —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 Black"/>
              </a:rPr>
              <a:t>and habit on top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0332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10M+ MAU in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70248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GTM-gated outcome. Brand and positioning signed off pre-launch; signal grounded in Beta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70332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3703320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38862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D30 retention 30%+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270248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Habit beats novelty. The 6-state lifecycle home does the discovery work; CLM recovers 15%+ of lapsed users in 30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56632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056632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3951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Quality bar held across 12+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2356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Cross-language parity within 10pp. STT beats benchmark by 5%+ per language. No domain below 70% satisfaction.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5056632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5056632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523951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Vertical Lift live, primitives proven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5623560"/>
            <a:ext cx="4892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2+ net-new signature experiences per month built by agents or partners. Design fragmentation prevented through shared craft.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55080"/>
            <a:ext cx="2286000" cy="36576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JBIQ  ·  Voice Strategy (GA)  ·  Matt Jarvis  · 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