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JBIQ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EDE7FF"/>
                </a:solidFill>
                <a:latin typeface="Arial Black"/>
              </a:rPr>
              <a:t>JIOBHARATIQ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VOICE STRATEGY  ·  EXEC READOUT  ·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Arial Black"/>
              </a:rPr>
              <a:t>A voice-first transactional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Arial Black"/>
              </a:rPr>
              <a:t>layer for India.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EDE7FF"/>
                </a:solidFill>
                <a:latin typeface="Arial"/>
              </a:rPr>
              <a:t>Narrowing JBIQ from a generalist assistant to four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EDE7FF"/>
                </a:solidFill>
                <a:latin typeface="Arial"/>
              </a:rPr>
              <a:t>defensible pillars on Jio's distribution and account moat.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263640"/>
            <a:ext cx="2286000" cy="36576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"/>
              </a:rPr>
              <a:t>Matt Jarvis  ·  Post Round-1 field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01  ·  THE 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From generalist assistant to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voice-first transactional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6766560" cy="3703320"/>
          </a:xfrm>
          <a:prstGeom prst="roundRect">
            <a:avLst>
              <a:gd name="adj" fmla="val 4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>
                <a:solidFill>
                  <a:srgbClr val="EDE7FF"/>
                </a:solidFill>
                <a:latin typeface="Arial Black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08960"/>
            <a:ext cx="5806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FFFF"/>
                </a:solidFill>
                <a:latin typeface="Arial Black"/>
              </a:rPr>
              <a:t>Become the easiest way Indians get</a:t>
            </a:r>
          </a:p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FFFF"/>
                </a:solidFill>
                <a:latin typeface="Arial Black"/>
              </a:rPr>
              <a:t>something done by voice — government,</a:t>
            </a:r>
          </a:p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FFFF"/>
                </a:solidFill>
                <a:latin typeface="Arial Black"/>
              </a:rPr>
              <a:t>local services, recharges, small commerce —</a:t>
            </a:r>
          </a:p>
          <a:p>
            <a:pPr algn="l">
              <a:lnSpc>
                <a:spcPct val="135000"/>
              </a:lnSpc>
            </a:pPr>
            <a:r>
              <a:rPr sz="1800" b="1">
                <a:solidFill>
                  <a:srgbClr val="FFFFFF"/>
                </a:solidFill>
                <a:latin typeface="Arial Black"/>
              </a:rPr>
              <a:t>in their own language, on Jio's account moat.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035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EDE7FF"/>
                </a:solidFill>
                <a:latin typeface="Arial Black"/>
              </a:rPr>
              <a:t>— DIRECTION OF TRAVEL, POST ROUND-1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03120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2103120"/>
            <a:ext cx="91440" cy="118872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8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D17CE"/>
                </a:solidFill>
                <a:latin typeface="Arial Black"/>
              </a:rPr>
              <a:t>ROUND 1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4688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Voice-first isn't landing yet.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44368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Tap-first WhatsApp model + invisible mic.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401568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401568"/>
            <a:ext cx="91440" cy="118872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538728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78AD"/>
                </a:solidFill>
                <a:latin typeface="Arial Black"/>
              </a:rPr>
              <a:t>WHY NARROW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767328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We can't out-chat Meta AI.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242816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Moat is JioPay + JioPhone + telco data — not conversation.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4700016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4700016"/>
            <a:ext cx="91440" cy="11887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83717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AD8B"/>
                </a:solidFill>
                <a:latin typeface="Arial Black"/>
              </a:rPr>
              <a:t>WHAT SUCCESS LOOKS LIKE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065776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Tasks completed, not chats had.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541264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Payments, bookings, calls, status confirmed.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989320"/>
            <a:ext cx="10972800" cy="27432"/>
          </a:xfrm>
          <a:prstGeom prst="rect">
            <a:avLst/>
          </a:prstGeom>
          <a:solidFill>
            <a:srgbClr val="DCD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C0D10"/>
                </a:solidFill>
                <a:latin typeface="Arial Black"/>
              </a:rPr>
              <a:t>The move:  one sharper product, four pillars, evidence-led — not a today-pivot, a direction of travel.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02  ·  DIRECTION OF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Today's product vs. where it's heading.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349240" cy="3931920"/>
          </a:xfrm>
          <a:prstGeom prst="roundRect">
            <a:avLst>
              <a:gd name="adj" fmla="val 4000"/>
            </a:avLst>
          </a:prstGeom>
          <a:solidFill>
            <a:srgbClr val="F6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C0D10"/>
                </a:solidFill>
                <a:latin typeface="Arial Black"/>
              </a:rPr>
              <a:t>Generalist voice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7307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8-category assistant row, Astrology to Government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1879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LLM-driven Q&amp;A as the headline value prop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6451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Competing with Meta AI, ChatGPT, Krutrim, Hanooman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1023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Success = users had a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B4D52"/>
                </a:solidFill>
                <a:latin typeface="Arial Black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5595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0C0D10"/>
                </a:solidFill>
                <a:latin typeface="Arial"/>
              </a:rPr>
              <a:t>English-led, with Hinglish ambition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331720"/>
            <a:ext cx="5349240" cy="3931920"/>
          </a:xfrm>
          <a:prstGeom prst="roundRect">
            <a:avLst>
              <a:gd name="adj" fmla="val 4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65176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WHERE WE'RE HEADING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97180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 Black"/>
              </a:rPr>
              <a:t>Voice-first transactional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749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7307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Four pillars: Government, Local Services, Recharge &amp; Bills, Order &amp; Buy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4206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1879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Voice-first task completion as the headline value prop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4663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6451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Competing on Jio's distribution &amp; account moat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5120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51023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Success = users completed a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5577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E7FF"/>
                </a:solidFill>
                <a:latin typeface="Arial Black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555955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Arial"/>
              </a:rPr>
              <a:t>Hindi + regional by design, not retrofit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03  ·  THE FOUR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Where JBIQ deepens — and why each wins.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4406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51460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C0D10"/>
                </a:solidFill>
                <a:latin typeface="Arial Black"/>
              </a:rPr>
              <a:t>Government &amp; civic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4D52"/>
                </a:solidFill>
                <a:latin typeface="Arial"/>
              </a:rPr>
              <a:t>Scheme eligibility, ration status, scholarship lookup, PM-Kisan disbursals — hard to text-search, badly under-served, perfectly suited to voice.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103120"/>
            <a:ext cx="54406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11112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24688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251460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C0D10"/>
                </a:solidFill>
                <a:latin typeface="Arial Black"/>
              </a:rPr>
              <a:t>Local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324612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4D52"/>
                </a:solidFill>
                <a:latin typeface="Arial"/>
              </a:rPr>
              <a:t>Plumber at the leaking tap, paediatrician at 2 a.m., Class 10 tutor — hyperlocal discovery with a clear commitment moment.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87952"/>
            <a:ext cx="54406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5537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537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59943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C0D10"/>
                </a:solidFill>
                <a:latin typeface="Arial Black"/>
              </a:rPr>
              <a:t>Recharge &amp; bills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30952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4D52"/>
                </a:solidFill>
                <a:latin typeface="Arial"/>
              </a:rPr>
              <a:t>Jio recharge, electricity, DTH, gas, water — the Jio account moat earns its keep here. One voice turn + one tap bypasses literacy.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187952"/>
            <a:ext cx="54406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11112" y="45537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45537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4599432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C0D10"/>
                </a:solidFill>
                <a:latin typeface="Arial Black"/>
              </a:rPr>
              <a:t>Order &amp; buy (small commerce)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5330952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4D52"/>
                </a:solidFill>
                <a:latin typeface="Arial"/>
              </a:rPr>
              <a:t>Kirana reorders, milk subscription edits, daily essentials in the ₹50–500 ticket band. Voice + Confirm &amp; Pay beats app-switching.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B4D52"/>
                </a:solidFill>
                <a:latin typeface="Arial"/>
              </a:rPr>
              <a:t>De-emphasised on the home promise: Bollywood, broad astrology, general Q&amp;A, IPL stats — strong incumbents, no unique advantage.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04  ·  HOW JBIQ TALKS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Ten principles. One voice.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0487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048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We care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4488" y="2240280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78808" y="240487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40487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We connect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44952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954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0954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Always smart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04488" y="3044952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320954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20954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Always simple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9624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1421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1421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Always secure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04488" y="3849624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8808" y="401421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401421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We dream big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54296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1888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1888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It starts with emotion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04488" y="4654296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8808" y="481888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481888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Actions over words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58968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623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Consistency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04488" y="5458968"/>
            <a:ext cx="3154680" cy="71323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8808" y="56235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D17CE"/>
                </a:solidFill>
                <a:latin typeface="Arial Black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5623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C0D10"/>
                </a:solidFill>
                <a:latin typeface="Arial Black"/>
              </a:rPr>
              <a:t>Celebrate India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80" y="2240280"/>
            <a:ext cx="4343400" cy="4160520"/>
          </a:xfrm>
          <a:prstGeom prst="roundRect">
            <a:avLst>
              <a:gd name="adj" fmla="val 4000"/>
            </a:avLst>
          </a:prstGeom>
          <a:solidFill>
            <a:srgbClr val="13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26060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 Black"/>
              </a:rPr>
              <a:t>THE JBIQ REPLY RHYTHM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2953512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Emotion → Answer →</a:t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Next step → Home.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2519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DE7FF"/>
                </a:solidFill>
                <a:latin typeface="Arial Black"/>
              </a:rPr>
              <a:t>1.  Emotion first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49884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One short human beat. No theatre.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7548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DE7FF"/>
                </a:solidFill>
                <a:latin typeface="Arial Black"/>
              </a:rPr>
              <a:t>2.  The answer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500176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Shortest path that's still complete.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25780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DE7FF"/>
                </a:solidFill>
                <a:latin typeface="Arial Black"/>
              </a:rPr>
              <a:t>3.  One next step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50468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A single primary CTA. Never a wall.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5760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DE7FF"/>
                </a:solidFill>
                <a:latin typeface="Arial Black"/>
              </a:rPr>
              <a:t>4.  The home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600760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Where they can find this again.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05  ·  RESPONSE PATTERN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Every response is shaped the same 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91440" cy="96012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048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C0D10"/>
                </a:solidFill>
                <a:latin typeface="Arial Black"/>
              </a:rPr>
              <a:t>Context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432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One sentence with inferred signal. No filler.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6888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C0D10"/>
                </a:solidFill>
                <a:latin typeface="Arial"/>
              </a:rPr>
              <a:t>“Kurtas for Diwali — delivery before Nov 5”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91440" cy="96012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5204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387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4564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C0D10"/>
                </a:solidFill>
                <a:latin typeface="Arial Black"/>
              </a:rPr>
              <a:t>Primary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947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Substantive answer or 3–5 cards.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52044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520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C0D10"/>
                </a:solidFill>
                <a:latin typeface="Arial"/>
              </a:rPr>
              <a:t>[Cards] · Fabindia · Manyavar · Biba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43400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343400"/>
            <a:ext cx="91440" cy="9601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572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902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50799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C0D10"/>
                </a:solidFill>
                <a:latin typeface="Arial Black"/>
              </a:rPr>
              <a:t>Refinement chips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8463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Single-tap, reversible. Never a question.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57200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5720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C0D10"/>
                </a:solidFill>
                <a:latin typeface="Arial"/>
              </a:rPr>
              <a:t>[Under ₹1,500]  [Men]  [Silk]  [More]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394960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394960"/>
            <a:ext cx="91440" cy="96012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4400" y="56235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4184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5595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C0D10"/>
                </a:solidFill>
                <a:latin typeface="Arial Black"/>
              </a:rPr>
              <a:t>Edge affordance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8978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Optional. ‘Compare’, ‘See more’, ‘Remind later’.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5623560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5623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C0D10"/>
                </a:solidFill>
                <a:latin typeface="Arial"/>
              </a:rPr>
              <a:t>See more  ·  Compare  ·  Save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2240280"/>
            <a:ext cx="4297680" cy="4160520"/>
          </a:xfrm>
          <a:prstGeom prst="roundRect">
            <a:avLst>
              <a:gd name="adj" fmla="val 4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2514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 Black"/>
              </a:rPr>
              <a:t>THE INVARIANTS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83464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 Black"/>
              </a:rPr>
              <a:t>Show value, don't</a:t>
            </a:r>
          </a:p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 Black"/>
              </a:rPr>
              <a:t>request value.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19709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7FF"/>
                </a:solidFill>
                <a:latin typeface="Arial Black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41605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Earn the first sentence — never filler.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5811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7FF"/>
                </a:solidFill>
                <a:latin typeface="Arial Black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0" y="45445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Refinement is chip-shaped, never a question.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965192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7FF"/>
                </a:solidFill>
                <a:latin typeface="Arial Black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492861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Surface inference — a hidden assumption is a bug.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349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7FF"/>
                </a:solidFill>
                <a:latin typeface="Arial Black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0" y="5312664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Match the user's language, mid-sentence.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73328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DE7FF"/>
                </a:solidFill>
                <a:latin typeface="Arial Black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0" y="569671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End on the next step, not “Anything else?”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06  ·  VOICE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We speak the shape of the result, not the 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7406640" cy="1508760"/>
          </a:xfrm>
          <a:prstGeom prst="roundRect">
            <a:avLst>
              <a:gd name="adj" fmla="val 10000"/>
            </a:avLst>
          </a:prstGeom>
          <a:solidFill>
            <a:srgbClr val="ED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D17CE"/>
                </a:solidFill>
                <a:latin typeface="Arial Black"/>
              </a:rPr>
              <a:t>VOICE — FLIGHT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“Found 3 morning flights. Cheapest is 6:15 AM at ₹2,850.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The others are a bit later, around the same price.</a:t>
            </a:r>
          </a:p>
          <a:p>
            <a:pPr algn="l">
              <a:lnSpc>
                <a:spcPct val="145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Want to book this one, or hear the others?”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828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1828800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D17CE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749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Signal results exist and how many.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6D17CE"/>
                </a:solidFill>
                <a:latin typeface="Arial"/>
              </a:rPr>
              <a:t>“Found 3 flights.”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931920"/>
            <a:ext cx="1828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4600" y="3931920"/>
            <a:ext cx="1828800" cy="914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206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8AD"/>
                </a:solidFill>
                <a:latin typeface="Arial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709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0749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One result, in full, on the user's priority.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6235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078AD"/>
                </a:solidFill>
                <a:latin typeface="Arial"/>
              </a:rPr>
              <a:t>“Cheapest is 6:15 AM, ₹2,850.”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31920"/>
            <a:ext cx="1828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931920"/>
            <a:ext cx="1828800" cy="914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206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AD8B"/>
                </a:solidFill>
                <a:latin typeface="Arial Black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09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0749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Collapse the rest. Never enumerate.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6235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0AD8B"/>
                </a:solidFill>
                <a:latin typeface="Arial"/>
              </a:rPr>
              <a:t>“The others — same price, a bit later.”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931920"/>
            <a:ext cx="1828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1828800" cy="9144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10064"/>
                </a:solidFill>
                <a:latin typeface="Arial Black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709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Pivot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0749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Hand off to the next action.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6235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310064"/>
                </a:solidFill>
                <a:latin typeface="Arial"/>
              </a:rPr>
              <a:t>“Book this, or hear the others?”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2240280"/>
            <a:ext cx="3383280" cy="1508760"/>
          </a:xfrm>
          <a:prstGeom prst="roundRect">
            <a:avLst>
              <a:gd name="adj" fmla="val 4000"/>
            </a:avLst>
          </a:prstGeom>
          <a:solidFill>
            <a:srgbClr val="13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24231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 Black"/>
              </a:rPr>
              <a:t>DENSITY CEILINGS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74320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 Black"/>
              </a:rPr>
              <a:t>≤ 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81635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DE7FF"/>
                </a:solidFill>
                <a:latin typeface="Arial"/>
              </a:rPr>
              <a:t>words before pivot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3072384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 Black"/>
              </a:rPr>
              <a:t>≤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314553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DE7FF"/>
                </a:solidFill>
                <a:latin typeface="Arial"/>
              </a:rPr>
              <a:t>attributes spoken aloud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401568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4747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DE7FF"/>
                </a:solidFill>
                <a:latin typeface="Arial"/>
              </a:rPr>
              <a:t>item read out unprompted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07  ·  MULTI-PARTNER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Partners declare capability. JBIQ governs interaction.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 Black"/>
              </a:rPr>
              <a:t>THE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A translation problem,</a:t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 Black"/>
              </a:rPr>
              <a:t>not an integration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434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3484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Partners declare canonical intents — they don't invent new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640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76402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Output renders through canonical primitives — no custom UI.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932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09320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JBIQ owns commitment — partners never run their own checkout.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422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422392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Memory writes are JBIQ-mediated — partners never write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7515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DE7FF"/>
                </a:solidFill>
                <a:latin typeface="Arial Black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751576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Branding appears as attribution, never as chrome.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331720"/>
            <a:ext cx="5623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6D17CE"/>
                </a:solidFill>
                <a:latin typeface="Arial Black"/>
              </a:rPr>
              <a:t>FIVE RESOLUTION STRATEGIES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651760"/>
            <a:ext cx="5623560" cy="4572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2651760"/>
            <a:ext cx="91440" cy="45720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743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C0D10"/>
                </a:solidFill>
                <a:latin typeface="Arial Black"/>
              </a:rPr>
              <a:t>Single-Best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7614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One partner, used silently. ‘Why this?’ available.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200400"/>
            <a:ext cx="5623560" cy="4572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3200400"/>
            <a:ext cx="91440" cy="45720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2918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C0D10"/>
                </a:solidFill>
                <a:latin typeface="Arial Black"/>
              </a:rPr>
              <a:t>Merged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31012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All partners blended, per-item attribution.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749040"/>
            <a:ext cx="5623560" cy="4572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3749040"/>
            <a:ext cx="91440" cy="4572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8404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C0D10"/>
                </a:solidFill>
                <a:latin typeface="Arial Black"/>
              </a:rPr>
              <a:t>Stratified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85876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Each partner gets a labelled section.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4297680"/>
            <a:ext cx="5623560" cy="4572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89320" y="4297680"/>
            <a:ext cx="91440" cy="45720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3891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C0D10"/>
                </a:solidFill>
                <a:latin typeface="Arial Black"/>
              </a:rPr>
              <a:t>Choice-Gated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40740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User picks the partner before dispatch.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4846320"/>
            <a:ext cx="5623560" cy="45720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4846320"/>
            <a:ext cx="91440" cy="45720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9377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C0D10"/>
                </a:solidFill>
                <a:latin typeface="Arial Black"/>
              </a:rPr>
              <a:t>Sequential-Fallback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95604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B4D52"/>
                </a:solidFill>
                <a:latin typeface="Arial"/>
              </a:rPr>
              <a:t>Try top partner; fall back on failure.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5468112"/>
            <a:ext cx="5623560" cy="566928"/>
          </a:xfrm>
          <a:prstGeom prst="roundRect">
            <a:avLst>
              <a:gd name="adj" fmla="val 12000"/>
            </a:avLst>
          </a:prstGeom>
          <a:solidFill>
            <a:srgbClr val="ED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55412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D17CE"/>
                </a:solidFill>
                <a:latin typeface="Arial Black"/>
              </a:rPr>
              <a:t>EQUITY RULES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74243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310064"/>
                </a:solidFill>
                <a:latin typeface="Arial"/>
              </a:rPr>
              <a:t>Cold-start budget · Monopoly cap · Demotion decay · Suppression visibility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08  ·  RISKS TO NAVIGATE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Five risks the direction has to 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91440" cy="7772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2860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9514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6771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Voice-AI novelty wears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286000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If a voice-order takes 45s and Swiggy takes 30, we lose. Track-B must test perceived speed, not just task completion.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91440" cy="777240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15468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6382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3639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RBI tightens voice-payment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154680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SIM-swap and voice-spoof concerns may force friction or caps. Mitigated by leaning into status checks and small-ticket utilities, not high-value transactions.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91440" cy="77724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0233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3250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00507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Accent and dialect coverage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023360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“It doesn't understand me” is harder churn to reverse than “it's slow”. The ASR benchmark in Track-B has to come back honest.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09160"/>
            <a:ext cx="91440" cy="777240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8920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0118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87375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Privacy backlash — DPDP and Pegasus-era wariness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892040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A single data-breach incident stalls adoption in privacy-conscious metros. Mute redesign helps; brand and policy work matter just as much.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778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577840"/>
            <a:ext cx="91440" cy="7772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57607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76986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742432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C0D10"/>
                </a:solidFill>
                <a:latin typeface="Arial Black"/>
              </a:rPr>
              <a:t>Commoditisation by Meta AI in WhatsApp + Bhashini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5760720"/>
            <a:ext cx="6309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B4D52"/>
                </a:solidFill>
                <a:latin typeface="Arial"/>
              </a:rPr>
              <a:t>Defensible moat must be unique access to local and transactional data, not “better conversation”. Narrowing leans into this; staying broad fights it head-on.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D17CE"/>
                </a:solidFill>
                <a:latin typeface="Arial Black"/>
              </a:rPr>
              <a:t>09  ·  DECISIONS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C0D10"/>
                </a:solidFill>
                <a:latin typeface="Arial Black"/>
              </a:rPr>
              <a:t>Four calls to unlock the next phase.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2697480" cy="109728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6D17CE"/>
                </a:solidFill>
                <a:latin typeface="Arial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37560"/>
            <a:ext cx="2057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Do we align on narrowing as the direction of travel?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17720"/>
            <a:ext cx="2057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Without alignment on direction, every other decision below stalls.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3317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2331720"/>
            <a:ext cx="2697480" cy="109728"/>
          </a:xfrm>
          <a:prstGeom prst="rect">
            <a:avLst/>
          </a:prstGeom>
          <a:solidFill>
            <a:srgbClr val="0078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6974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78AD"/>
                </a:solidFill>
                <a:latin typeface="Arial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3337560"/>
            <a:ext cx="2057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Is Confirm &amp; Pay a real launch pillar?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4617720"/>
            <a:ext cx="2057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Yes → transactional voice becomes top-priority research and design. No → down-weight commerce; treat Bru as concept 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3317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2331720"/>
            <a:ext cx="2697480" cy="109728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6974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0AD8B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3337560"/>
            <a:ext cx="2057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Recruiting model — in-house or research partner?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4617720"/>
            <a:ext cx="2057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T2/T3 recruiting in Lucknow / Indore / Coimbatore has lead time. Sourcing should start as soon as the model is decided.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9136" y="2331720"/>
            <a:ext cx="26974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2331720"/>
            <a:ext cx="2697480" cy="109728"/>
          </a:xfrm>
          <a:prstGeom prst="rect">
            <a:avLst/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9176" y="26974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310064"/>
                </a:solidFill>
                <a:latin typeface="Arial Blac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3337560"/>
            <a:ext cx="2057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0D10"/>
                </a:solidFill>
                <a:latin typeface="Arial Black"/>
              </a:rPr>
              <a:t>What does ‘voice-first’ mean on the home screen?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4617720"/>
            <a:ext cx="2057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B4D52"/>
                </a:solidFill>
                <a:latin typeface="Arial"/>
              </a:rPr>
              <a:t>Highest-leverage UX call post Round 1: overlay, reframed assistant row, or a different model — design needs a north-star to build 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92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 Black"/>
              </a:rPr>
              <a:t>JBIQ  ·  Voice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4B4D52"/>
                </a:solidFill>
                <a:latin typeface="Arial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1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DE7FF"/>
                </a:solidFill>
                <a:latin typeface="Arial Black"/>
              </a:rPr>
              <a:t>10  ·  WHAT SUCCESS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Arial Black"/>
              </a:rPr>
              <a:t>A defensible voice-first product,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Arial Black"/>
              </a:rPr>
              <a:t>backed by Round-2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03320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91440" cy="11887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862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 Black"/>
              </a:rPr>
              <a:t>Direction 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70248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DE7FF"/>
                </a:solidFill>
                <a:latin typeface="Arial"/>
              </a:rPr>
              <a:t>A written, evidence-backed direction — what we deepen, what we de-emphasise, in what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703320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3703320"/>
            <a:ext cx="91440" cy="11887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38862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 Black"/>
              </a:rPr>
              <a:t>Round-1 debt 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270248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DE7FF"/>
                </a:solidFill>
                <a:latin typeface="Arial"/>
              </a:rPr>
              <a:t>Barge-in works. Home reads as voice-first. Listening signal is unmissable. Long prompts survive interruption.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56632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056632"/>
            <a:ext cx="91440" cy="11887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239512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 Black"/>
              </a:rPr>
              <a:t>V2 positioning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623560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DE7FF"/>
                </a:solidFill>
                <a:latin typeface="Arial"/>
              </a:rPr>
              <a:t>A pruned product scope, built around the user moments in Section 4 — ready for the launch conversation.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5056632"/>
            <a:ext cx="5440680" cy="1188720"/>
          </a:xfrm>
          <a:prstGeom prst="roundRect">
            <a:avLst>
              <a:gd name="adj" fmla="val 6000"/>
            </a:avLst>
          </a:prstGeom>
          <a:solidFill>
            <a:srgbClr val="310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5056632"/>
            <a:ext cx="91440" cy="1188720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5239512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 Black"/>
              </a:rPr>
              <a:t>T2/T3 evidence in hand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5623560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DE7FF"/>
                </a:solidFill>
                <a:latin typeface="Arial"/>
              </a:rPr>
              <a:t>Field signal from Lucknow / Indore / Coimbatore that tells us, with confidence, where JBIQ wins first.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55080"/>
            <a:ext cx="2286000" cy="36576"/>
          </a:xfrm>
          <a:prstGeom prst="rect">
            <a:avLst/>
          </a:prstGeom>
          <a:solidFill>
            <a:srgbClr val="00A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 Black"/>
              </a:rPr>
              <a:t>JBIQ  ·  Voice Strategy  ·  Matt Jarvis  ·  May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EDE7FF"/>
                </a:solidFill>
                <a:latin typeface="Arial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