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svg" ContentType="image/svg+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JioType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JioType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JioType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JioType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JioType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JioTyp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JioTyp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JioTyp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JioType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breadcreative121-byte.github.io/JBIQ-App-V2/place-playground.html" TargetMode="External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breadcreative121-byte.github.io/JBIQ-App-V2/place-playground.html" TargetMode="External"/><Relationship Id="rId2" Type="http://schemas.openxmlformats.org/officeDocument/2006/relationships/hyperlink" Target="https://breadcreative121-byte.github.io/JBIQ-App-V2/components-playground.html" TargetMode="External"/><Relationship Id="rId3" Type="http://schemas.openxmlformats.org/officeDocument/2006/relationships/hyperlink" Target="https://breadcreative121-byte.github.io/JBIQ-App-V2/components-overview.html#components-home" TargetMode="External"/><Relationship Id="rId4" Type="http://schemas.openxmlformats.org/officeDocument/2006/relationships/image" Target="../media/image-3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0680" y="1761439"/>
            <a:ext cx="566700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500"/>
              </a:lnSpc>
            </a:pPr>
            <a:r>
              <a:rPr lang="en-US" sz="4500" b="1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Where Partner Brands Live.</a:t>
            </a:r>
            <a:endParaRPr lang="en-US" sz="4500" dirty="0"/>
          </a:p>
        </p:txBody>
      </p:sp>
      <p:pic>
        <p:nvPicPr>
          <p:cNvPr id="4" name="Image 0" descr="https://pitch-assets-ccb95893-de3f-4266-973c-20049231b248.s3.eu-west-1.amazonaws.com/7995fa7f-e3fe-4d6f-b3cc-4d696d3cfe48?pitch-bytes=6734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526678" y="97701"/>
            <a:ext cx="1143000" cy="49465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6250" y="4463021"/>
            <a:ext cx="6566520" cy="13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80"/>
              </a:lnSpc>
            </a:pPr>
            <a:r>
              <a:rPr lang="en-US" sz="700" b="1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May 2026 </a:t>
            </a:r>
            <a:pPr algn="l">
              <a:lnSpc>
                <a:spcPts val="1080"/>
              </a:lnSpc>
            </a:pPr>
            <a:r>
              <a:rPr lang="en-US" sz="700" b="1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· Product &amp; Design</a:t>
            </a:r>
            <a:pPr algn="l">
              <a:lnSpc>
                <a:spcPts val="1080"/>
              </a:lnSpc>
            </a:pPr>
            <a:r>
              <a:rPr lang="en-US" sz="700" b="0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675" dirty="0"/>
          </a:p>
        </p:txBody>
      </p:sp>
      <p:sp>
        <p:nvSpPr>
          <p:cNvPr id="6" name="Text 2"/>
          <p:cNvSpPr/>
          <p:nvPr/>
        </p:nvSpPr>
        <p:spPr>
          <a:xfrm>
            <a:off x="476134" y="2999607"/>
            <a:ext cx="48694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20"/>
              </a:lnSpc>
            </a:pPr>
            <a:r>
              <a:rPr lang="en-US" sz="1200" b="0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 map of where a business and a user </a:t>
            </a:r>
            <a:pPr algn="l">
              <a:lnSpc>
                <a:spcPts val="1920"/>
              </a:lnSpc>
            </a:pPr>
            <a:r>
              <a:rPr lang="en-US" sz="1200" b="0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sees</a:t>
            </a:r>
            <a:pPr algn="l">
              <a:lnSpc>
                <a:spcPts val="1920"/>
              </a:lnSpc>
            </a:pPr>
            <a:r>
              <a:rPr lang="en-US" sz="1200" b="0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brand presence.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7831" y="476250"/>
            <a:ext cx="31416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Contents.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3197" y="1404965"/>
            <a:ext cx="3981078" cy="1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440"/>
              </a:lnSpc>
              <a:buSzPct val="100000"/>
              <a:buFont typeface="+mj-lt"/>
              <a:buAutoNum type="arabicPeriod" startAt="1"/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Example prototype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73197" y="1288618"/>
            <a:ext cx="3981258" cy="0"/>
          </a:xfrm>
          <a:prstGeom prst="line">
            <a:avLst/>
          </a:prstGeom>
          <a:solidFill>
            <a:srgbClr val="FF671F"/>
          </a:solidFill>
          <a:ln w="5292">
            <a:solidFill>
              <a:srgbClr val="C4C4CA"/>
            </a:solidFill>
            <a:prstDash val="solid"/>
            <a:headEnd type="none"/>
            <a:tailEnd type="none"/>
          </a:ln>
        </p:spPr>
        <p:txBody>
          <a:bodyPr wrap="square" lIns="221181" tIns="562" rIns="221181" bIns="562" rtlCol="0" anchor="ctr"/>
          <a:lstStyle/>
          <a:p>
            <a:pPr algn="ctr">
              <a:lnSpc>
                <a:spcPts val="1440"/>
              </a:lnSpc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3197" y="1701727"/>
            <a:ext cx="3981258" cy="0"/>
          </a:xfrm>
          <a:prstGeom prst="line">
            <a:avLst/>
          </a:prstGeom>
          <a:solidFill>
            <a:srgbClr val="FF671F"/>
          </a:solidFill>
          <a:ln w="5292">
            <a:solidFill>
              <a:srgbClr val="C4C4CA"/>
            </a:solidFill>
            <a:prstDash val="solid"/>
            <a:headEnd type="none"/>
            <a:tailEnd type="none"/>
          </a:ln>
        </p:spPr>
        <p:txBody>
          <a:bodyPr wrap="square" lIns="221181" tIns="562" rIns="221181" bIns="562" rtlCol="0" anchor="ctr"/>
          <a:lstStyle/>
          <a:p>
            <a:pPr algn="ctr">
              <a:lnSpc>
                <a:spcPts val="1440"/>
              </a:lnSpc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6204" y="1823119"/>
            <a:ext cx="3975273" cy="1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440"/>
              </a:lnSpc>
              <a:buSzPct val="100000"/>
              <a:buFont typeface="+mj-lt"/>
              <a:buAutoNum type="arabicPeriod" startAt="1"/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Surface Architecture 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3197" y="2114835"/>
            <a:ext cx="3981258" cy="0"/>
          </a:xfrm>
          <a:prstGeom prst="line">
            <a:avLst/>
          </a:prstGeom>
          <a:solidFill>
            <a:srgbClr val="FF671F"/>
          </a:solidFill>
          <a:ln w="5292">
            <a:solidFill>
              <a:srgbClr val="C4C4CA"/>
            </a:solidFill>
            <a:prstDash val="solid"/>
            <a:headEnd type="none"/>
            <a:tailEnd type="none"/>
          </a:ln>
        </p:spPr>
        <p:txBody>
          <a:bodyPr wrap="square" lIns="221181" tIns="562" rIns="221181" bIns="562" rtlCol="0" anchor="ctr"/>
          <a:lstStyle/>
          <a:p>
            <a:pPr algn="ctr">
              <a:lnSpc>
                <a:spcPts val="1440"/>
              </a:lnSpc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3197" y="966815"/>
            <a:ext cx="3981078" cy="1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440"/>
              </a:lnSpc>
              <a:buSzPct val="100000"/>
              <a:buFont typeface="+mj-lt"/>
              <a:buAutoNum type="arabicPeriod" startAt="1"/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1799294"/>
            <a:ext cx="450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00"/>
              </a:lnSpc>
            </a:pPr>
            <a:r>
              <a:rPr lang="en-US" sz="2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When a partner connects to JBIQ, where does their brand show up?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76250" y="2856586"/>
            <a:ext cx="449966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user needs trust signals. The business needs attribution. 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system needs cohesion. Three things to balance, eight surfaces to balance them across.</a:t>
            </a:r>
            <a:endParaRPr lang="en-US" sz="1050" dirty="0"/>
          </a:p>
        </p:txBody>
      </p:sp>
      <p:pic>
        <p:nvPicPr>
          <p:cNvPr id="5" name="Image 0" descr="https://pitch-assets-ccb95893-de3f-4266-973c-20049231b248.s3.eu-west-1.amazonaws.com/8edd8c14-dbb9-4771-8a7a-e46e006282cf?pitch-bytes=1417651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1792630"/>
            <a:ext cx="3728871" cy="1558240"/>
          </a:xfrm>
          <a:prstGeom prst="roundRect">
            <a:avLst>
              <a:gd name="adj" fmla="val 20000"/>
            </a:avLst>
          </a:prstGeom>
          <a:solidFill>
            <a:srgbClr val="F6F2FF"/>
          </a:solidFill>
          <a:ln/>
        </p:spPr>
        <p:txBody>
          <a:bodyPr wrap="square" lIns="207159" tIns="183959" rIns="207159" bIns="183959" rtlCol="0" anchor="ctr"/>
          <a:lstStyle/>
          <a:p>
            <a:pPr algn="ctr">
              <a:lnSpc>
                <a:spcPts val="1200"/>
              </a:lnSpc>
            </a:pP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789" y="677610"/>
            <a:ext cx="2910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Two forces, one surface.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12238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experinace partnership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05917" y="2502205"/>
            <a:ext cx="318045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Every experience feels like one product. Predictable rhythm. Consistent voice. One safety layer.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05960" y="2235505"/>
            <a:ext cx="14180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JBIQ cohesion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71533" y="2485248"/>
            <a:ext cx="400933" cy="0"/>
          </a:xfrm>
          <a:prstGeom prst="line">
            <a:avLst/>
          </a:prstGeom>
          <a:solidFill>
            <a:srgbClr val="0F3CC9"/>
          </a:solidFill>
          <a:ln w="10583">
            <a:solidFill>
              <a:srgbClr val="6C18CE"/>
            </a:solidFill>
            <a:prstDash val="dash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 rot="10800000">
            <a:off x="4371700" y="2658252"/>
            <a:ext cx="400393" cy="0"/>
          </a:xfrm>
          <a:prstGeom prst="line">
            <a:avLst/>
          </a:prstGeom>
          <a:solidFill>
            <a:srgbClr val="0F3CC9"/>
          </a:solidFill>
          <a:ln w="10583">
            <a:solidFill>
              <a:srgbClr val="6C18CE"/>
            </a:solidFill>
            <a:prstDash val="dash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4938879" y="1792630"/>
            <a:ext cx="3728871" cy="15582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lIns="207159" tIns="183959" rIns="207159" bIns="183959" rtlCol="0" anchor="ctr"/>
          <a:lstStyle/>
          <a:p>
            <a:pPr algn="ctr">
              <a:lnSpc>
                <a:spcPts val="1200"/>
              </a:lnSpc>
            </a:pP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68546" y="2502205"/>
            <a:ext cx="318045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Their brand seen. Their relationship preserved. 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Their data, their trust, their continued mindshare.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68590" y="2235505"/>
            <a:ext cx="27155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 attribution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30344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Discovery, Order </a:t>
            </a:r>
            <a:endParaRPr lang="en-US" sz="1800" dirty="0"/>
          </a:p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&amp; Purchase.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476250"/>
            <a:ext cx="129688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Prototype video walkthrough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76250" y="4514850"/>
            <a:ext cx="16071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u="sng" spc="-12" kern="0" dirty="0">
                <a:solidFill>
                  <a:srgbClr val="200066"/>
                </a:solidFill>
                <a:latin typeface="JioType" pitchFamily="34" charset="0"/>
                <a:ea typeface="JioType" pitchFamily="34" charset="-122"/>
                <a:cs typeface="JioTyp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JBIQ Conversation Playground Link </a:t>
            </a:r>
            <a:endParaRPr lang="en-US" sz="750" dirty="0"/>
          </a:p>
        </p:txBody>
      </p:sp>
      <p:pic>
        <p:nvPicPr>
          <p:cNvPr id="6" name="Image 0" descr="https://image.mux.com/g3RS2UIgyp1rghNgyZgf4FxRQkLZft8BJNg9iPxP1PE/thumbnail.jpg?token=eyJhbGciOiJSUzI1NiJ9.eyJzdWIiOiJnM1JTMlVJZ3lwMXJnaE5neVpnZjRGeFJRa0xaZnQ4QkpOZzlpUHhQMVBFIiwiYXVkIjoidCIsImV4cCI6MTc3OTAwMTg0OSwia2lkIjoiUWdqbjVCamMwMG1aYWdGUWJGZDZQZ2dhWHJKNnFiWW1SSkp6eGNWeWJNeXMiLCJ0aW1lIjoyOC4wNDkyMn0.CSLH5fM6lkoCdu9jYW7vImV7YuMOmawKvtebT9yzkdehMSLLoDlP3jC9fP3Bw7IAOROmItO8XYT57yXxpD-BKEJ0eFuHjY1oN_QCm2PkxLbVdw9CmeYJPX19KBCEt7iSD7loh8i5vuJzGR-tOqmksVpzlOnbwQPDqZ5KgEpV7cjGUtqTprrb61ROYDAAiMa38VM_qNFyIULAybyhYHujcSuLCQncgLCNqOePakWdD42yUObo7UPMEG9fcn1YFt_EKFLQlMzGFNHIrAt7RHrBa-TUVjdt4M_THsVHwZ0eIzO0nPu9NPzUjQwKNIVMTS2okASi3GWOxapcQcg4oRVot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6326" y="297645"/>
            <a:ext cx="2388629" cy="45482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476250"/>
            <a:ext cx="68163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Prototype Flow</a:t>
            </a:r>
            <a:endParaRPr lang="en-US" sz="750" dirty="0"/>
          </a:p>
        </p:txBody>
      </p:sp>
      <p:pic>
        <p:nvPicPr>
          <p:cNvPr id="4" name="Image 0" descr="https://pitch-assets-ccb95893-de3f-4266-973c-20049231b248.s3.eu-west-1.amazonaws.com/e5e5dd8a-2243-4bdd-9471-53540bc99d8d?pitch-bytes=414623&amp;pitch-content-type=image%2Fpng">    </p:cNvPr>
          <p:cNvPicPr>
            <a:picLocks noChangeAspect="1"/>
          </p:cNvPicPr>
          <p:nvPr/>
        </p:nvPicPr>
        <p:blipFill>
          <a:blip r:embed="rId1"/>
          <a:srcRect l="0" r="0" t="3172" b="0"/>
          <a:stretch/>
        </p:blipFill>
        <p:spPr>
          <a:xfrm>
            <a:off x="-114967" y="1133985"/>
            <a:ext cx="9394334" cy="290190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7610"/>
            <a:ext cx="40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Where brand shows up.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476250"/>
            <a:ext cx="64383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Eight surfaces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74489" y="1198630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1.Pre-conversation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544574" y="1198630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2.Session chrome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623718" y="1198630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3.Content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98333" y="1198630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4.Voice attribution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4489" y="3005784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5.Transactional moments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44574" y="3005784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6.History &amp; </a:t>
            </a:r>
            <a:pPr algn="ctr">
              <a:lnSpc>
                <a:spcPts val="1680"/>
              </a:lnSpc>
            </a:pPr>
            <a:r>
              <a:rPr lang="en-US" sz="1100" spc="-12" kern="0" dirty="0">
                <a:solidFill>
                  <a:srgbClr val="000000"/>
                </a:solidFill>
              </a:rPr>
              <a:t>Re-engagement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23718" y="3005784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7.Trust &amp; compliance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98333" y="3005784"/>
            <a:ext cx="1969417" cy="1661466"/>
          </a:xfrm>
          <a:prstGeom prst="roundRect">
            <a:avLst>
              <a:gd name="adj" fmla="val 13335"/>
            </a:avLst>
          </a:prstGeom>
          <a:solidFill>
            <a:srgbClr val="F6F2FF"/>
          </a:solidFill>
          <a:ln/>
        </p:spPr>
        <p:txBody>
          <a:bodyPr wrap="square" lIns="109412" tIns="196145" rIns="109412" bIns="196145" rtlCol="0" anchor="ctr"/>
          <a:lstStyle/>
          <a:p>
            <a:pPr algn="ctr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</a:rPr>
              <a:t>8.Cross-partner views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38058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Where users decide which partners they trust.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875" y="1273931"/>
            <a:ext cx="4302621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very first impression a partner makes before any tool has fired or any data has been touched.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 picker / capability registry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"Swiggy, Zomato, or Eatsure for food?"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First-use consent screen partner logo, data scope, allowed actions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Settings → Connected partners the user's mental model of what's plugged in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"Discover partners" surface app-store-like, high real estate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Trust signals up front.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First-impression placement.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875" y="476250"/>
            <a:ext cx="11155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01 Pre-conversation</a:t>
            </a: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3e052eb2-3925-47ef-83a4-7a928d90332f?pitch-bytes=64818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414c9fa4-a129-485e-b629-5149d233b19f?pitch-bytes=27935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Choose who handles the request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JBIQ surfaces the partners that can fulfil the user's intent. Each option carries its mark and a one-line credential.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39ee78d8-cf65-474c-9adc-26af3b06e598?pitch-bytes=27278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What the partner can see and do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 logo paired with each data scope the user is granting. Granular, explicit, revocable.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63281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 picker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7870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First-use consent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3194bd5c-54e3-4979-a81b-2ce6ba37d629?pitch-bytes=26769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user's mental model of their stack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 single screen showing everyone plugged in. Source of truth for "who has access" and the disconnect button.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c6232ab5-e55a-4a2f-8dcd-a2de5fd42c35?pitch-bytes=49810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App-store-like featured surface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Where new partners get their first impression. High real estate, brand-led; users opt in to plug them into the rest of the system.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13475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Settings · Connected partners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7934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Discover partners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active partner stays visible without crowding the content.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1273931"/>
            <a:ext cx="4286250" cy="234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When a flow is in progress, the user should always know who's behind the answer but it can't compete with the content itself.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Active partner pill at the top of the conversation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Sidebar partner indicator when a flow is in progress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Browser tab / app header reflecting the current partner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Voice intro when a partner takes over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"Swiggy here three places near you do pad thai."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Stays oriented on who's responsible.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Framing presence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8676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02 Session Chrome</a:t>
            </a: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ee0fd877-1436-47fd-a7b6-8046b3a52d27?pitch-bytes=785533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a6516094-67fc-4185-842a-6f02ce9bcb5b?pitch-bytes=226404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In-flow partner pill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Sits in the conversation header throughout the flow. Quietly persistent so the user always knows who's behind the answer.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2a6ce1bf-45ea-43cc-938b-bf81474a9f21?pitch-bytes=33678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Sidebar session marker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In multi-flow apps, the active partner is marked next to its session entry so users can switch contexts without losing track.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7894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Active partner pill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7663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Sidebar indicator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highest-stakes surface partners compete here for visibility.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1273931"/>
            <a:ext cx="4286250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Cards, lists, and trackers are where the user is actively looking. Every placement here trades off against the next.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Card hero / media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partner watermark, logo strip, themed colour wash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Card title row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small partner mark next to the entity title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Section headers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"From Times of India"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above a news block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Card footer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"via Swiggy"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source line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Verification badges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system-issued tick, not partner-claimed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Sees who's source-of-truth for each data point.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Prime real estate where eyes actually land.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7808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03 Inside content</a:t>
            </a: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eb7491e2-edd9-406a-97ff-27269adc5735?pitch-bytes=1148391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0819cf35-90ee-4717-abac-242734b74ece?pitch-bytes=337743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Logo strip in the media area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Most assertive treatment. Partner's mark spans the top edge of the card's hero. Best when partner brand recognition is doing the heavy lifting.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c42f7d5d-3820-46ad-81f8-76b72d4fd9ad?pitch-bytes=170860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Small logo next to the entity name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Quiet but always there. The partner's identity sits inline with the title, so it travels with the entity into search, history, and recommendations.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727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Hero watermark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6556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Title-row mark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60ff193-cff2-42d0-bcd6-0d89dda0ef24?pitch-bytes=232738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"via Partner" attribution line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default-on treatment. Plain text below the card. Reads naturally, never overpowers the data, satisfies attribution without competing for attention.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28527c7d-562e-4a4f-b557-844767e2bba6?pitch-bytes=18052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System-issued tick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 trust signal, not a brand placement. Issued by JBIQ after partner verification never claimed or styled by the partner themselves.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8081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Footer source line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81267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Verification badge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invisible channel where brand only reaches the user as sound.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1327882"/>
            <a:ext cx="4286250" cy="277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Voice is brand's hardest surface you can't show a logo. Attribution happens through phrasing, persona, and consistent naming.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Spoken partner mention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"From Practo:"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,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"On Swiggy:"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Persona inheritance partner's selected voice persona reflects their brand tone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Confirm readbacks partner always named before money moves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(non-negotiable)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Tracker updates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"Swiggy says your order's 12 minutes away"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Receipt acks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"Your Practo appointment is confirmed"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Trust knows who's vouching for what.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Brand recall in the eyes-busy channel.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8813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04 Voice attribution</a:t>
            </a: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42572c5f-babe-4d97-b9e5-3c38365b511f?pitch-bytes=45715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655444b1-5b80-43d4-ba3e-a05193f81e57?pitch-bytes=20318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Named at the start of the turn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 short partner mention before the answer. The voice equivalent of a source line, placed up front so the user knows whose data is speaking.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1ac007ec-d05b-4538-9644-ea6c3eb4dff5?pitch-bytes=170344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Voice tone reflects the partner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Each partner ships with a tonal preset. The voice persona carries their brand even when no logo is on screen.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7285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Spoken mention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8982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Persona inheritance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pic>
        <p:nvPicPr>
          <p:cNvPr id="11" name="Image 2" descr="https://pitch-assets-ccb95893-de3f-4266-973c-20049231b248.s3.eu-west-1.amazonaws.com/f29c5ba2-271a-4dda-b9e4-cb930477989b?pitch-bytes=50159&amp;pitch-content-type=image%2Fpng">    </p:cNvPr>
          <p:cNvPicPr>
            <a:picLocks noChangeAspect="1"/>
          </p:cNvPicPr>
          <p:nvPr/>
        </p:nvPicPr>
        <p:blipFill>
          <a:blip r:embed="rId3"/>
          <a:srcRect l="9098" r="5715" t="2056" b="2056"/>
          <a:stretch/>
        </p:blipFill>
        <p:spPr>
          <a:xfrm>
            <a:off x="4890308" y="634720"/>
            <a:ext cx="3589315" cy="26676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fe1e30ec-1d61-4585-9d4b-6123dd77c652?pitch-bytes=18909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 named before money moves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Non-negotiable. The partner is always named in the spoken confirmation step so the user knows exactly who is executing.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502b8549-6016-4ccc-9707-3d6de665849b?pitch-bytes=17035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Partner-attributed status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Background updates spoken aloud always lead with the partner. Keeps long-running flows honest about whose system the update came from.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80382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Confirm readback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68066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Tracker update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35158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trust-critical zone partners are named whenever commitment moves.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1502816"/>
            <a:ext cx="4095750" cy="298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Money, bookings, irreversible actions. The user has to know who's executing and how to reach them if something goes wrong.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ConfirmPanel header partner logo + name in the banner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Payment provider logos Visa, Mastercard, UPI app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(separate from the partner)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Receipt header &amp; footer order ref, support contact, terms link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Push / SMS notifications partner-branded outside the JBIQ surface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Email confirmations partner sender, partner template, JBIQ co-mark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Knows who to chase if something goes wrong.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Extends the relationship past the JBIQ session.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11915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05 Transactional moments</a:t>
            </a: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de50bc81-ef76-493d-b18e-db6a2f5d3264?pitch-bytes=240278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253583e7-7b53-4245-975d-189d20e8e6bf?pitch-bytes=59940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 banner on the commit step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When the user is about to commit, the partner is named at the top of the panel. No ambiguity about who is taking the money.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717107" y="3786264"/>
            <a:ext cx="39552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Rails logos, separate from the partner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Visa, Mastercard, UPI live in their own row they don't compete with the partner brand because they answer a different question.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76250" y="3585991"/>
            <a:ext cx="97035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Confirm Panel header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714646" y="3585991"/>
            <a:ext cx="8377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Payment providers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pic>
        <p:nvPicPr>
          <p:cNvPr id="10" name="Image 1" descr="https://pitch-assets-ccb95893-de3f-4266-973c-20049231b248.s3.eu-west-1.amazonaws.com/87edd919-299f-4b5a-b6e8-7b78fac0fb73?pitch-bytes=21302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1e01c06-9643-4a98-806d-3592a69578f3?pitch-bytes=22772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Header order ref, footer support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receipt carries the partner's brand and their support contact so the user knows exactly where to go when something goes wrong.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987689e4-9293-4720-8da4-454515379ab9?pitch-bytes=16705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Partner-branded, outside JBIQ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Outside the JBIQ surface, the partner owns the channel. Their sender, their template, with a quiet JBIQ co-mark.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346844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Receipt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5432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Push &amp; SMS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Where past interactions become future loyalty.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1273931"/>
            <a:ext cx="4286250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 partner's mindshare gets compounded across sessions every time the user returns, they should see the partners they've already trusted.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Session history list past sessions grouped by partner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"My orders" / "My bookings" per-partner sections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"Repeat order" partner brand preserved through the shortcut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Recommendation surfaces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"Order from Drunken Monkey again?"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Loyalty / rewards mentions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"You've earned 50 Retail Coins"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Continuity across sessions.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loyalty hook.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12652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06 History &amp; re-engagement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6e1c8a07-c20b-4573-a89c-a6af0a3f5ecd?pitch-bytes=1171051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ba1a125f-d3a3-4895-b8b3-3c8155632e03?pitch-bytes=27455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Past flows grouped by partner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Looking back, the user sees the partners they've already trusted the list itself becomes a credibility signal.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883121c3-9bde-4df2-a994-8b6a5f92b3d9?pitch-bytes=321884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 preserved through the shortcut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One-tap repeats keep the partner's mark on the card. The shortcut doesn't quietly become a generic JBIQ action.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68766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Session history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5879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Repeat order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4b89acef-043a-44d2-a342-205d28302f7e?pitch-bytes=204459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"Try this again?" surface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When JBIQ proactively re-surfaces something the user liked, the partner stays attached every nudge carries provenance.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59e386f0-b5ce-4360-adfd-61d278c3ee19?pitch-bytes=13208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Partner-named earn moments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Loyalty mentions name the partner's programme so the points feel like theirs and the reason to come back is theirs too.</a:t>
            </a:r>
            <a:endParaRPr lang="en-US" sz="900" dirty="0"/>
          </a:p>
          <a:p>
            <a:pPr algn="l">
              <a:lnSpc>
                <a:spcPts val="1440"/>
              </a:lnSpc>
            </a:pP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792361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Recommendation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79890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Loyalty &amp; rewards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non-negotiable badges issued by the system, not claimed by partners.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1273931"/>
            <a:ext cx="4286250" cy="3626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These are the trust marks that have to be there for regulated verticals and the disclosures that protect the user when partners read their data.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Verified partner mark system-issued, audited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Regulator badges FSSAI (food), NMC (doctors), RBI (finance), UIDAI (govt)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Privacy disclosure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"Swiggy can see: your address, your payment method"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Data-shared indicator when the partner is actively reading user data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Disclaimer / liability lines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"Medical advice provided by Practo, not JBIQ"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Needs these for safety and informed consent.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Benefits from being seen as compliant.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9941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07 Trust &amp; compliance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44035115-d4e3-47be-9bf0-bae107732691?pitch-bytes=48523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ae046050-04e5-41ea-9400-389043689e30?pitch-bytes=18118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System-issued, not partner-claimed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tick is JBIQ's, never the partner's. It only appears after audit which is what makes it worth anything.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785ff093-df7b-49cf-8e9e-41e8b02f686e?pitch-bytes=42276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Licence visible in regulated verticals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FSSAI, NMC, RBI, UIDAI the body that licenses the partner shows on the card. Required for any vertical where licensing matters.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594792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Verified mark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7936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Regulator badges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a6f5a81-3b55-40d3-9220-770e3a23e1c3?pitch-bytes=19141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Live read-out of partner data scope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Whenever a partner is actively reading user data, the disclosure surfaces inline scope is explicit, revocable, and pinned to the partner.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54e8ae2e-5dc1-4a84-b993-2e54181192f7?pitch-bytes=15372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Liability stays with the partner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65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For advice-bearing surfaces, the partner is named as the source. JBIQ holds the pipe; the partner holds the advice.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811634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Privacy disclosure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4733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Disclaimer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789" y="673942"/>
            <a:ext cx="428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When the same view comes from many sources attribution stays transparent.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1502816"/>
            <a:ext cx="4286250" cy="277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Comparison and aggregation are the only moments where multiple partner logos live in the same component and the rules tighten.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Comparison views multiple partner logos in the option columns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"Best from each" badges showing which source contributed which result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Aggregated source line </a:t>
            </a:r>
            <a:pPr algn="l">
              <a:lnSpc>
                <a:spcPts val="1680"/>
              </a:lnSpc>
            </a:pPr>
            <a:r>
              <a:rPr lang="en-US" sz="1100" b="0" i="1" spc="-12" kern="0" dirty="0">
                <a:solidFill>
                  <a:srgbClr val="0C0D10">
                    <a:alpha val="65000"/>
                  </a:srgbClr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"Showing flights from Skyscanner, MMT, and Cleartrip"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Transparency on aggregation.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​</a:t>
            </a:r>
            <a:pPr algn="l">
              <a:lnSpc>
                <a:spcPts val="1680"/>
              </a:lnSpc>
            </a:pPr>
            <a:r>
              <a:rPr lang="en-US" sz="1100" b="1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Partner: </a:t>
            </a:r>
            <a:pPr algn="l">
              <a:lnSpc>
                <a:spcPts val="1680"/>
              </a:lnSpc>
            </a:pPr>
            <a:r>
              <a:rPr lang="en-US" sz="11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Co-mark visibility.</a:t>
            </a: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  <a:p>
            <a:pPr algn="l">
              <a:lnSpc>
                <a:spcPts val="1680"/>
              </a:lnSpc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6250" y="476250"/>
            <a:ext cx="10410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08 Cross-partner views</a:t>
            </a:r>
            <a:endParaRPr lang="en-US" sz="750" dirty="0"/>
          </a:p>
        </p:txBody>
      </p:sp>
      <p:pic>
        <p:nvPicPr>
          <p:cNvPr id="6" name="Image 0" descr="https://pitch-assets-ccb95893-de3f-4266-973c-20049231b248.s3.eu-west-1.amazonaws.com/dff7e8dc-e421-4f40-a841-4b50bffef243?pitch-bytes=72249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1e9dd158-8cb1-4238-8134-2ffde6764b0e?pitch-bytes=28173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Multiple partners, side-by-side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only place several partner marks live together. Each column is owned by one source so the comparison stays honest.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9feda5b1-775e-48b8-a2de-18d480ac8946?pitch-bytes=26976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4884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Which source won each slot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When the winning option comes from a particular partner, the badge says so. No silent picking the user sees who got the result.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7713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Comparison view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107334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"Best from each" badge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12f4462-cbdd-4fb6-9cb4-9c262abfa8e9?pitch-bytes=132766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476250"/>
            <a:ext cx="3952866" cy="29646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3786264"/>
            <a:ext cx="395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Rows tagged with their origin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78711" y="4005434"/>
            <a:ext cx="39528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In aggregated lists, each row carries the partner who supplied it so the user always knows which source contributed which result.</a:t>
            </a:r>
            <a:endParaRPr lang="en-US" sz="900" dirty="0"/>
          </a:p>
        </p:txBody>
      </p:sp>
      <p:pic>
        <p:nvPicPr>
          <p:cNvPr id="6" name="Image 1" descr="https://pitch-assets-ccb95893-de3f-4266-973c-20049231b248.s3.eu-west-1.amazonaws.com/edcc0604-adc1-4014-8708-c4cb2d848d07?pitch-bytes=20979&amp;pitch-content-type=image%2F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9218" y="476250"/>
            <a:ext cx="3952866" cy="29646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7107" y="3786264"/>
            <a:ext cx="395525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"Showing from" header</a:t>
            </a: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  <a:p>
            <a:pPr algn="l">
              <a:lnSpc>
                <a:spcPts val="1350"/>
              </a:lnSpc>
            </a:pP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719568" y="4005434"/>
            <a:ext cx="395272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 single line above the results spells out every contributing partner. Co-mark visibility without crowding individual cards.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76250" y="3585991"/>
            <a:ext cx="686991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Per-row source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4714646" y="3585991"/>
            <a:ext cx="10400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Aggregated source line</a:t>
            </a:r>
            <a:endParaRPr lang="en-US" sz="750" dirty="0"/>
          </a:p>
          <a:p>
            <a:pPr algn="l">
              <a:lnSpc>
                <a:spcPts val="1200"/>
              </a:lnSpc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1484618"/>
            <a:ext cx="614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u="sng" dirty="0">
                <a:solidFill>
                  <a:srgbClr val="200066"/>
                </a:solidFill>
                <a:latin typeface="JioType" pitchFamily="34" charset="0"/>
                <a:ea typeface="JioType" pitchFamily="34" charset="-122"/>
                <a:cs typeface="JioTyp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Experience Demo.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76250" y="476250"/>
            <a:ext cx="5489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spc="-12" kern="0" dirty="0">
                <a:solidFill>
                  <a:srgbClr val="6C18CE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Useful Links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73789" y="2323590"/>
            <a:ext cx="614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u="sng" dirty="0">
                <a:solidFill>
                  <a:srgbClr val="200066"/>
                </a:solidFill>
                <a:latin typeface="JioType" pitchFamily="34" charset="0"/>
                <a:ea typeface="JioType" pitchFamily="34" charset="-122"/>
                <a:cs typeface="JioTy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Partner Sandpit.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73789" y="3199707"/>
            <a:ext cx="6147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800" b="1" u="sng" dirty="0">
                <a:solidFill>
                  <a:srgbClr val="200066"/>
                </a:solidFill>
                <a:latin typeface="JioType" pitchFamily="34" charset="0"/>
                <a:ea typeface="JioType" pitchFamily="34" charset="-122"/>
                <a:cs typeface="JioTyp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 System.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6250" y="1760690"/>
            <a:ext cx="4226272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The live discovery experience, mobile-framed prototype showing JBIQ end to end.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6250" y="2599594"/>
            <a:ext cx="4675138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Interactive pipeline prototype for partners, tune intents and watch the rendered responses.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6250" y="3476047"/>
            <a:ext cx="450286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900" b="0" spc="-12" kern="0" dirty="0">
                <a:solidFill>
                  <a:srgbClr val="000000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Every visual primitive across two or three verticals. Same component, different content.</a:t>
            </a:r>
            <a:endParaRPr lang="en-US" sz="900" dirty="0"/>
          </a:p>
        </p:txBody>
      </p:sp>
      <p:pic>
        <p:nvPicPr>
          <p:cNvPr id="10" name="Image 0" descr="https://pitch-assets-ccb95893-de3f-4266-973c-20049231b248.s3.eu-west-1.amazonaws.com/c9d9a559-a7c1-43d6-b1a4-1edc5724debb?pitch-bytes=393824&amp;pitch-content-type=image%2F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76888" y="0"/>
            <a:ext cx="3567112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00000"/>
                </a:solidFill>
                <a:latin typeface="JioType"/>
                <a:ea typeface="JioType"/>
                <a:cs typeface="JioType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70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104775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500"/>
              </a:lnSpc>
            </a:pPr>
            <a:r>
              <a:rPr lang="en-US" sz="4500" b="1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With love,</a:t>
            </a:r>
            <a:endParaRPr lang="en-US" sz="4500" dirty="0"/>
          </a:p>
          <a:p>
            <a:pPr algn="l">
              <a:lnSpc>
                <a:spcPts val="4500"/>
              </a:lnSpc>
            </a:pPr>
            <a:r>
              <a:rPr lang="en-US" sz="4500" b="1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from Jio.</a:t>
            </a:r>
            <a:endParaRPr lang="en-US" sz="4500" dirty="0"/>
          </a:p>
        </p:txBody>
      </p:sp>
      <p:pic>
        <p:nvPicPr>
          <p:cNvPr id="4" name="Image 0" descr="https://pitch-assets-ccb95893-de3f-4266-973c-20049231b248.s3.eu-west-1.amazonaws.com/7995fa7f-e3fe-4d6f-b3cc-4d696d3cfe48?pitch-bytes=6734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526678" y="97701"/>
            <a:ext cx="1143000" cy="49465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6250" y="4469211"/>
            <a:ext cx="6565404" cy="13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80"/>
              </a:lnSpc>
            </a:pPr>
            <a:r>
              <a:rPr lang="en-US" sz="700" b="1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May 2026 </a:t>
            </a:r>
            <a:pPr algn="l">
              <a:lnSpc>
                <a:spcPts val="1080"/>
              </a:lnSpc>
            </a:pPr>
            <a:r>
              <a:rPr lang="en-US" sz="700" b="1" spc="-12" kern="0" dirty="0">
                <a:solidFill>
                  <a:srgbClr val="FFFFFF"/>
                </a:solidFill>
                <a:latin typeface="JioType" pitchFamily="34" charset="0"/>
                <a:ea typeface="JioType" pitchFamily="34" charset="-122"/>
                <a:cs typeface="JioType" pitchFamily="34" charset="-120"/>
              </a:rPr>
              <a:t> ·  Matt Jarvis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ioType" panose="020F0302020204030204"/>
        <a:ea typeface="JioType"/>
        <a:cs typeface="JioType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ioType" panose="020F0502020204030204"/>
        <a:ea typeface="JioType"/>
        <a:cs typeface="JioType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JBIQ Experiance - Where Partner Brands Live</dc:title>
  <dc:subject>PptxGenJS Presentation</dc:subject>
  <dc:creator>Pitch Software GmbH</dc:creator>
  <cp:lastModifiedBy>Pitch Software GmbH</cp:lastModifiedBy>
  <cp:revision>1</cp:revision>
  <dcterms:created xsi:type="dcterms:W3CDTF">2026-05-16T07:11:04Z</dcterms:created>
  <dcterms:modified xsi:type="dcterms:W3CDTF">2026-05-16T07:11:04Z</dcterms:modified>
</cp:coreProperties>
</file>